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5"/>
  </p:notesMasterIdLst>
  <p:handoutMasterIdLst>
    <p:handoutMasterId r:id="rId16"/>
  </p:handoutMasterIdLst>
  <p:sldIdLst>
    <p:sldId id="258" r:id="rId2"/>
    <p:sldId id="271" r:id="rId3"/>
    <p:sldId id="260" r:id="rId4"/>
    <p:sldId id="261" r:id="rId5"/>
    <p:sldId id="272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E90CF-E6ED-47D2-AB61-B3F55196B00F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9282E-B14B-4AC4-901D-AA69CA592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804706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7F4E9-40C6-42A9-BDF2-6BD48C0C638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A865B-4CF6-49D4-B1E4-00DA69B31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68782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A8C1-ED2D-44CB-8F5F-79E6B0F710BF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552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b="1"/>
              <a:t>Paper id: CLICK2167</a:t>
            </a:r>
            <a:endParaRPr lang="en-IN" dirty="0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4A5026C9-72F4-4387-9658-BB2EAE80D00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25AECE-5382-E637-8A09-2E46B1E26B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16"/>
            <a:ext cx="2799372" cy="7447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9617A5-C6ED-A59F-0FB9-03B5DA86B6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782" y="-263289"/>
            <a:ext cx="1441136" cy="14411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1A291-0A7A-31EB-4C1C-AF23D4630CA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68681F4-2977-40F0-B2A8-181464EF7DE7}" type="datetime1">
              <a:rPr lang="en-IN" smtClean="0"/>
              <a:t>16-07-2026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90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5D6B-AA5D-4531-82C7-E12FBF500E58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 dirty="0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CA8A79-8CB4-D7B7-EFBF-DB2F23C9C879}"/>
              </a:ext>
            </a:extLst>
          </p:cNvPr>
          <p:cNvSpPr/>
          <p:nvPr userDrawn="1"/>
        </p:nvSpPr>
        <p:spPr>
          <a:xfrm>
            <a:off x="0" y="0"/>
            <a:ext cx="2555776" cy="776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Conference on Latest Innovations in Computing and Knowledge </a:t>
            </a:r>
          </a:p>
          <a:p>
            <a:pPr algn="ctr"/>
            <a:r>
              <a:rPr lang="en-IN" sz="1200" b="1" dirty="0">
                <a:solidFill>
                  <a:schemeClr val="tx1"/>
                </a:solidFill>
              </a:rPr>
              <a:t>CLICK 2026</a:t>
            </a:r>
          </a:p>
        </p:txBody>
      </p:sp>
    </p:spTree>
    <p:extLst>
      <p:ext uri="{BB962C8B-B14F-4D97-AF65-F5344CB8AC3E}">
        <p14:creationId xmlns:p14="http://schemas.microsoft.com/office/powerpoint/2010/main" val="34537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3AB30-3DAB-4D01-9B43-49FAADED86F3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74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16D4-42DB-4346-8B12-DB959D3172C6}" type="datetime1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45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03586-9098-45A9-9409-E879B029FDAD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211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951FE-C15B-4087-B209-762845786EBD}" type="datetime1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90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8A191A8-8551-4A95-8E49-03F9BB3E4E10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94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5C1BA-7E57-4732-A47D-A6962EB7D87A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18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780F-8693-4524-BDBD-31F3FEF33F79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7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1C0D-063B-473A-A3DF-E413C85B6C3D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29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1C6AFDC-4045-4C79-9875-42120A4649E4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5080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A5026C9-72F4-4387-9658-BB2EAE80D00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03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your.email@iiitdm.ac.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4211" y="419333"/>
            <a:ext cx="9144000" cy="988899"/>
          </a:xfrm>
          <a:prstGeom prst="rect">
            <a:avLst/>
          </a:prstGeom>
        </p:spPr>
        <p:txBody>
          <a:bodyPr vert="horz" wrap="square" lIns="0" tIns="125895" rIns="0" bIns="0" rtlCol="0">
            <a:spAutoFit/>
          </a:bodyPr>
          <a:lstStyle/>
          <a:p>
            <a:pPr>
              <a:spcBef>
                <a:spcPts val="991"/>
              </a:spcBef>
            </a:pPr>
            <a:r>
              <a:rPr lang="en-US" sz="2800" spc="-40" dirty="0">
                <a:solidFill>
                  <a:srgbClr val="3B3B3B"/>
                </a:solidFill>
              </a:rPr>
              <a:t/>
            </a:r>
            <a:br>
              <a:rPr lang="en-US" sz="2800" spc="-40" dirty="0">
                <a:solidFill>
                  <a:srgbClr val="3B3B3B"/>
                </a:solidFill>
              </a:rPr>
            </a:b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115616" y="2132856"/>
            <a:ext cx="6783689" cy="125526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algn="ctr">
              <a:spcBef>
                <a:spcPts val="188"/>
              </a:spcBef>
            </a:pPr>
            <a:endParaRPr lang="en-US" sz="2000" spc="-40" dirty="0">
              <a:solidFill>
                <a:srgbClr val="3B3B3B"/>
              </a:solidFill>
              <a:latin typeface="Tahoma"/>
              <a:cs typeface="Tahoma"/>
            </a:endParaRPr>
          </a:p>
          <a:p>
            <a:pPr algn="ctr">
              <a:lnSpc>
                <a:spcPts val="2379"/>
              </a:lnSpc>
            </a:pPr>
            <a:endParaRPr lang="en-US" sz="2000" spc="-40" dirty="0">
              <a:solidFill>
                <a:srgbClr val="3B3B3B"/>
              </a:solidFill>
              <a:latin typeface="Tahoma"/>
              <a:cs typeface="Tahoma"/>
            </a:endParaRPr>
          </a:p>
          <a:p>
            <a:pPr algn="ctr">
              <a:lnSpc>
                <a:spcPts val="2379"/>
              </a:lnSpc>
            </a:pPr>
            <a:endParaRPr lang="en-US" sz="2000" spc="-40" dirty="0">
              <a:solidFill>
                <a:srgbClr val="3B3B3B"/>
              </a:solidFill>
              <a:latin typeface="Tahoma"/>
              <a:cs typeface="Tahoma"/>
            </a:endParaRPr>
          </a:p>
          <a:p>
            <a:pPr algn="ctr">
              <a:lnSpc>
                <a:spcPts val="2379"/>
              </a:lnSpc>
            </a:pPr>
            <a:endParaRPr sz="2000" dirty="0">
              <a:latin typeface="Tahoma"/>
              <a:cs typeface="Tahoma"/>
            </a:endParaRPr>
          </a:p>
        </p:txBody>
      </p:sp>
      <p:sp>
        <p:nvSpPr>
          <p:cNvPr id="7" name="AutoShape 4" descr="Generated image: Industry 5.0: connecting human and mach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BE40FA-7304-4269-003C-D3D5AB32E200}"/>
              </a:ext>
            </a:extLst>
          </p:cNvPr>
          <p:cNvSpPr/>
          <p:nvPr/>
        </p:nvSpPr>
        <p:spPr>
          <a:xfrm>
            <a:off x="125777" y="1196752"/>
            <a:ext cx="8880921" cy="14591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IEEE International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Conference on Latest Innovations in Computing and Knowledge 2026 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CLICK2026</a:t>
            </a:r>
          </a:p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5B0206-F72B-BDC3-CF18-DC9FE1452A0C}"/>
              </a:ext>
            </a:extLst>
          </p:cNvPr>
          <p:cNvSpPr txBox="1"/>
          <p:nvPr/>
        </p:nvSpPr>
        <p:spPr>
          <a:xfrm>
            <a:off x="2843808" y="2809264"/>
            <a:ext cx="4715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Paper ID: CLICK2167</a:t>
            </a:r>
          </a:p>
          <a:p>
            <a:r>
              <a:rPr lang="en-IN" dirty="0"/>
              <a:t>Title: Ontology-Driven Deep Learning Framework for Intelligent Traffic Congestion </a:t>
            </a:r>
            <a:r>
              <a:rPr lang="en-IN" dirty="0" smtClean="0"/>
              <a:t>Control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0196EB-C7CE-5126-AD79-5C29A816D730}"/>
              </a:ext>
            </a:extLst>
          </p:cNvPr>
          <p:cNvSpPr txBox="1"/>
          <p:nvPr/>
        </p:nvSpPr>
        <p:spPr>
          <a:xfrm>
            <a:off x="6145381" y="4102971"/>
            <a:ext cx="274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Author 2: Nandhagopal 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9F819E-5882-1C5E-9018-A7874B4D2318}"/>
              </a:ext>
            </a:extLst>
          </p:cNvPr>
          <p:cNvSpPr txBox="1"/>
          <p:nvPr/>
        </p:nvSpPr>
        <p:spPr>
          <a:xfrm>
            <a:off x="457200" y="4110680"/>
            <a:ext cx="294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Author </a:t>
            </a:r>
            <a:r>
              <a:rPr lang="en-IN" dirty="0" smtClean="0"/>
              <a:t>1: Mr. G</a:t>
            </a:r>
            <a:r>
              <a:rPr lang="en-IN" dirty="0"/>
              <a:t>. David Raj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92270-8585-0788-17F3-C3D6EEA6DF5C}"/>
              </a:ext>
            </a:extLst>
          </p:cNvPr>
          <p:cNvSpPr txBox="1"/>
          <p:nvPr/>
        </p:nvSpPr>
        <p:spPr>
          <a:xfrm>
            <a:off x="5391199" y="5159038"/>
            <a:ext cx="216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5FE57-4FBC-FFD4-B837-0D0EE0662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 dirty="0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A7ECC-2733-4919-A38F-6DE7EC56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349341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83080"/>
            <a:ext cx="8229600" cy="4206240"/>
          </a:xfrm>
        </p:spPr>
        <p:txBody>
          <a:bodyPr wrap="square">
            <a:normAutofit/>
          </a:bodyPr>
          <a:lstStyle/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 traffic congestion increases travel time, fuel use, and pollution, and delays emergency vehicles.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systems rely on traditional traffic-management approaches and conventional ML, missing the semantic relationships between roads, vehicles, weather conditions, traffic volume, and temporal patterns.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work proposes an Ontology-Driven Deep Learning framework combining CNN, Bi-LSTM, multimodal fusion, and semantic reasoning.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framework predicts </a:t>
            </a:r>
            <a:r>
              <a:rPr lang="en-US" sz="160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congestion and </a:t>
            </a:r>
            <a:r>
              <a:rPr lang="en-US" sz="160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detects emergency vehicles, and generates explainable traffic-control decisions.</a:t>
            </a:r>
            <a:endParaRPr sz="1600" b="0" dirty="0">
              <a:solidFill>
                <a:srgbClr val="2129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Paper ID: CLICK2167</a:t>
            </a:r>
            <a:endParaRPr lang="en-IN" dirty="0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0E3E43-AE84-44B3-8A71-3BD2E0D2F504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60919B-3CAC-AA0C-4D8E-EC01FC7C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08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83080"/>
            <a:ext cx="8229600" cy="4206240"/>
          </a:xfrm>
        </p:spPr>
        <p:txBody>
          <a:bodyPr wrap="square">
            <a:normAutofit/>
          </a:bodyPr>
          <a:lstStyle/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ML (SVM, Decision Tree, Random Forest) captures only numerical patterns, not relationships among traffic factors.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models fail to capture long-term temporal dependencies and are not designed </a:t>
            </a:r>
            <a:r>
              <a:rPr sz="1600" b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1600" b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Black-box predictions lack interpretability, reducing trust in traffic-control decisions.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scalability on large, dynamic datasets and limited emergency-vehicle awareness.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an accurate, interpretable, and semantically aware traffic-management system.</a:t>
            </a:r>
            <a:endParaRPr sz="1600" dirty="0">
              <a:solidFill>
                <a:srgbClr val="212937"/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FEB828-5D2A-81FA-2B4D-CFD58C28716F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Research Motivation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2D0D13-1B72-0D4F-CEFD-16AFE6CA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62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4744"/>
            <a:ext cx="9144000" cy="573325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01F27-991B-1009-C5FF-E6273E8CEF0A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Related Work / Literature Review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A701A-23B1-A070-0469-8A31F84C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4</a:t>
            </a:fld>
            <a:endParaRPr lang="en-IN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983908"/>
              </p:ext>
            </p:extLst>
          </p:nvPr>
        </p:nvGraphicFramePr>
        <p:xfrm>
          <a:off x="832103" y="1874519"/>
          <a:ext cx="7772401" cy="3737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7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53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 / Method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Limitation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125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Ontology Traffic Signal Control (</a:t>
                      </a:r>
                      <a:r>
                        <a:rPr sz="1600" dirty="0" err="1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Ghanadbashi</a:t>
                      </a:r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- Ontology + rules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and maintenance complexity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1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Congestion Prediction (Zhou) - CNN + Multimodal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data and compute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1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 smtClean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ConvLSTM Traffic Flow (Wei and Liu) - LSTM + Attention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computation cost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1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ST-Tensor GCN - Base Paper (Xu) - ST-TGCN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Complex, tuning-sensitive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1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Explainable AI for ITS (</a:t>
                      </a:r>
                      <a:r>
                        <a:rPr sz="1600" dirty="0" err="1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Adadi</a:t>
                      </a:r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- SHAP / LIME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1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Survey only, no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899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Sources: Ghanadbashi et al. (2021), Zhou et al. (2022), Wei and Liu (2022), Xu et al. (2022), Adadi et al. (2023)</a:t>
            </a:r>
          </a:p>
        </p:txBody>
      </p:sp>
    </p:spTree>
    <p:extLst>
      <p:ext uri="{BB962C8B-B14F-4D97-AF65-F5344CB8AC3E}">
        <p14:creationId xmlns:p14="http://schemas.microsoft.com/office/powerpoint/2010/main" val="385569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BE36-372F-4B2B-2149-C013891E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D472-3507-CE78-7F6D-20901052311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1783080"/>
            <a:ext cx="8229600" cy="4297680"/>
          </a:xfrm>
        </p:spPr>
        <p:txBody>
          <a:bodyPr wrap="square">
            <a:normAutofit/>
          </a:bodyPr>
          <a:lstStyle/>
          <a:p>
            <a:pPr marL="285750" indent="-285750" algn="just">
              <a:spcAft>
                <a:spcPts val="12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Emergency-vehicle traffic images (Emergency / Normal) and the Metro Interstate Traffic Volume structured/tabular dataset are collected; images are resized and normalized, and the tabular data is scaled and split into 5-step temporal windows.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2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 </a:t>
            </a:r>
            <a:r>
              <a:rPr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extracts </a:t>
            </a: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features from traffic images - vehicle density and emergency-vehicle presence.</a:t>
            </a:r>
          </a:p>
          <a:p>
            <a:pPr marL="285750" indent="-285750" algn="just">
              <a:spcAft>
                <a:spcPts val="12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Bi-LSTM learns temporal congestion patterns from the Metro Interstate structured/tabular data (5-step temporal windows</a:t>
            </a:r>
            <a:r>
              <a:rPr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b="0" dirty="0" smtClean="0">
              <a:solidFill>
                <a:srgbClr val="2129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200"/>
              </a:spcAft>
              <a:buFont typeface="Arial"/>
              <a:buChar char="•"/>
            </a:pPr>
            <a:r>
              <a:rPr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 </a:t>
            </a: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fusion combines CNN spatial + Bi-LSTM temporal features for higher accuracy.</a:t>
            </a:r>
          </a:p>
          <a:p>
            <a:pPr marL="285750" indent="-285750" algn="just">
              <a:spcAft>
                <a:spcPts val="12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Ontology-based semantic layer performs rule-based IF-THEN decision-making.</a:t>
            </a:r>
          </a:p>
          <a:p>
            <a:pPr marL="285750" indent="-285750" algn="just">
              <a:spcAft>
                <a:spcPts val="12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Grad-CAM and SHAP generate explainable outputs - heatmaps, feature importance, congestion and risk analysis.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EAE7A-6F4E-EF21-599B-7500C9A675B0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98F733-4AB4-31BF-9E3B-ED7794E3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06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EAE7A-6F4E-EF21-599B-7500C9A675B0}"/>
              </a:ext>
            </a:extLst>
          </p:cNvPr>
          <p:cNvSpPr txBox="1"/>
          <p:nvPr/>
        </p:nvSpPr>
        <p:spPr>
          <a:xfrm>
            <a:off x="885799" y="1399304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Architecture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98F733-4AB4-31BF-9E3B-ED7794E3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0" y="1745580"/>
            <a:ext cx="88696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1F497D"/>
                </a:solidFill>
              </a:rPr>
              <a:t>Traffic Images → CNN (Spatial)   +   Structured/Tabular Data → Bi-LSTM (Temporal)   →   Multimodal Fusion   →   Ontology Reasoning   →   SHAP / Grad-CAM   →   Decision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960" y="1965960"/>
            <a:ext cx="3928079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11480" y="1828800"/>
            <a:ext cx="4663440" cy="4206240"/>
          </a:xfrm>
        </p:spPr>
        <p:txBody>
          <a:bodyPr wrap="square">
            <a:normAutofit lnSpcReduction="10000"/>
          </a:bodyPr>
          <a:lstStyle/>
          <a:p>
            <a:pPr marL="285750" indent="-285750" algn="just">
              <a:spcAft>
                <a:spcPts val="9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M1 - Emergency Detection (CNN, EfficientNetB0 backbone): spatial features, vehicle density, ambulance detection -&gt; Normal / Emergency.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9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M2 - Temporal Prediction (Bi-LSTM on structured/tabular 5-step temporal windows): temporal patterns -&gt; congestion (Low / Medium / High) and risk.</a:t>
            </a:r>
          </a:p>
          <a:p>
            <a:pPr marL="285750" indent="-285750" algn="just">
              <a:spcAft>
                <a:spcPts val="9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M3 - Multimodal Fusion: concatenate CNN + Bi-LSTM features -&gt; robust, low-bias prediction.</a:t>
            </a:r>
          </a:p>
          <a:p>
            <a:pPr marL="285750" indent="-285750" algn="just">
              <a:spcAft>
                <a:spcPts val="9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M4 - Ontology Explainable Engine: IF-THEN reasoning + Grad-CAM / SHAP -&gt; action, priority, explanation.</a:t>
            </a:r>
          </a:p>
          <a:p>
            <a:pPr marL="285750" indent="-285750" algn="just">
              <a:spcAft>
                <a:spcPts val="900"/>
              </a:spcAft>
              <a:buFont typeface="Arial"/>
              <a:buChar char="•"/>
            </a:pPr>
            <a:r>
              <a:rPr sz="160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Stack: Python, </a:t>
            </a:r>
            <a:r>
              <a:rPr sz="1600" dirty="0" err="1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sz="160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sz="1600" dirty="0" err="1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sz="160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EfficientNetB0 CNN + Bi-LSTM, ontology rule base.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964B4-FB13-8E53-85C9-41B62F42FD24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DAFA40-1CC0-A0D6-9593-C2E0FEC6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2" name="Picture 11" descr="imp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811908"/>
            <a:ext cx="3657600" cy="20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9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000F1C-1686-1382-D18F-A032619F5C88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Results and Discussion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1FDE4-B966-44C2-5FBD-05188B31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12" name="Picture 11" descr="resul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" y="1828800"/>
            <a:ext cx="7930956" cy="3108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5029200"/>
            <a:ext cx="7863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output: emergency vehicle detected with 91.66% confidence, High congestion level, Priority = Critical, Recommended action = Activate Green Wave - with a rule-based reason for the decision.</a:t>
            </a:r>
          </a:p>
        </p:txBody>
      </p:sp>
    </p:spTree>
    <p:extLst>
      <p:ext uri="{BB962C8B-B14F-4D97-AF65-F5344CB8AC3E}">
        <p14:creationId xmlns:p14="http://schemas.microsoft.com/office/powerpoint/2010/main" val="385569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920240"/>
            <a:ext cx="4297680" cy="3931920"/>
          </a:xfrm>
        </p:spPr>
        <p:txBody>
          <a:bodyPr wrap="square">
            <a:normAutofit/>
          </a:bodyPr>
          <a:lstStyle/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Proposed Ontology + CNN + Bi-LSTM - classification performance on the held-out test set: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High precision (</a:t>
            </a:r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%)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 recall (</a:t>
            </a:r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.9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%) - reliable detection with minimal false alarms.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Consistent congestion classification across Low / Medium / High.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Outperforms all classical and deep-learning </a:t>
            </a:r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baselines.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58B5AB-84CF-A75A-F2EA-1EE14053E203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Performance Evaluation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A54A7F-4164-DB90-E6AF-7E7D13FD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9</a:t>
            </a:fld>
            <a:endParaRPr lang="en-IN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113722"/>
              </p:ext>
            </p:extLst>
          </p:nvPr>
        </p:nvGraphicFramePr>
        <p:xfrm>
          <a:off x="5029200" y="2194560"/>
          <a:ext cx="3474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Accuracy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/>
                        <a:t>97.2%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Precision</a:t>
                      </a:r>
                    </a:p>
                  </a:txBody>
                  <a:tcP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smtClean="0"/>
                        <a:t>9</a:t>
                      </a:r>
                      <a:r>
                        <a:rPr lang="en-US" sz="1500" b="1" dirty="0" smtClean="0"/>
                        <a:t>6</a:t>
                      </a:r>
                      <a:r>
                        <a:rPr sz="1500" b="1" dirty="0" smtClean="0"/>
                        <a:t>.</a:t>
                      </a:r>
                      <a:r>
                        <a:rPr lang="en-US" sz="1500" b="1" dirty="0" smtClean="0"/>
                        <a:t>6</a:t>
                      </a:r>
                      <a:r>
                        <a:rPr sz="1500" b="1" dirty="0" smtClean="0"/>
                        <a:t>%</a:t>
                      </a:r>
                      <a:endParaRPr sz="1500" b="1" dirty="0"/>
                    </a:p>
                  </a:txBody>
                  <a:tcP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Recall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smtClean="0"/>
                        <a:t>96.9</a:t>
                      </a:r>
                      <a:r>
                        <a:rPr sz="1500" b="1" smtClean="0"/>
                        <a:t>%</a:t>
                      </a:r>
                      <a:endParaRPr sz="1500" b="1" dirty="0"/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F1-Score</a:t>
                      </a:r>
                    </a:p>
                  </a:txBody>
                  <a:tcP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 smtClean="0"/>
                        <a:t>96.7</a:t>
                      </a:r>
                      <a:r>
                        <a:rPr sz="1500" b="1" dirty="0" smtClean="0"/>
                        <a:t>%</a:t>
                      </a:r>
                      <a:endParaRPr sz="1500" b="1" dirty="0"/>
                    </a:p>
                  </a:txBody>
                  <a:tcP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697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4744"/>
            <a:ext cx="9144000" cy="573325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45908A-7437-20EE-746D-52F2DBB9FE88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Comparative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ABD05-41C9-0796-AB00-6CC5CE34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proposed Ontology + CNN + Bi-LSTM model achieves the best results on every metric, outperforming all baselines</a:t>
            </a:r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822397"/>
              </p:ext>
            </p:extLst>
          </p:nvPr>
        </p:nvGraphicFramePr>
        <p:xfrm>
          <a:off x="365760" y="1828800"/>
          <a:ext cx="8412475" cy="313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RMSE</a:t>
                      </a:r>
                    </a:p>
                  </a:txBody>
                  <a:tcPr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</a:t>
                      </a:r>
                    </a:p>
                  </a:txBody>
                  <a:tcPr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(%)</a:t>
                      </a:r>
                    </a:p>
                  </a:txBody>
                  <a:tcPr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R²</a:t>
                      </a:r>
                    </a:p>
                  </a:txBody>
                  <a:tcPr marT="12700" marB="1270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</a:t>
                      </a:r>
                    </a:p>
                  </a:txBody>
                  <a:tcPr marT="12700" marB="12700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54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4.295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2.782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ARIMA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7.241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4.982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SVR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4.145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2.623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88.6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T="12700" marB="12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3.994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2.596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T="12700" marB="12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Bi-LSTM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3.741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2.487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92.8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T="12700" marB="12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+ Bi-LSTM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3.512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2.295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94.7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0.866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T="12700" marB="12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Ontology + CNN + Bi-LSTM (Proposed)</a:t>
                      </a:r>
                    </a:p>
                  </a:txBody>
                  <a:tcPr marT="12700" marB="127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3.106</a:t>
                      </a:r>
                    </a:p>
                  </a:txBody>
                  <a:tcPr marT="12700" marB="127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2.019</a:t>
                      </a:r>
                    </a:p>
                  </a:txBody>
                  <a:tcPr marT="12700" marB="127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97.2</a:t>
                      </a:r>
                    </a:p>
                  </a:txBody>
                  <a:tcPr marT="12700" marB="127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0.911</a:t>
                      </a:r>
                    </a:p>
                  </a:txBody>
                  <a:tcPr marT="12700" marB="127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</a:t>
                      </a:r>
                    </a:p>
                  </a:txBody>
                  <a:tcPr marT="12700" marB="12700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69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11480" y="1874519"/>
            <a:ext cx="5120640" cy="4114800"/>
          </a:xfrm>
        </p:spPr>
        <p:txBody>
          <a:bodyPr wrap="square">
            <a:normAutofit/>
          </a:bodyPr>
          <a:lstStyle/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 fusion combines spatial (CNN) and temporal (Bi-LSTM</a:t>
            </a:r>
            <a:r>
              <a:rPr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context-aware representations.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Ontology layer adds context-aware, rule-based decisions (emergency prioritization, Green Wave).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Grad-CAM </a:t>
            </a:r>
            <a:r>
              <a:rPr sz="1600" b="0" dirty="0" err="1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heatmaps</a:t>
            </a: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localize congestion and emergency regions within traffic images.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 quantifies the contribution of individual </a:t>
            </a:r>
            <a:r>
              <a:rPr lang="en-US" sz="160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improving transparency and trust.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sz="160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outputs support transparent, interpretable traffic-control decisions.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63A42-5E42-43EF-A1B2-55B38789B755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Insights and Discussion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3A7E76-7F6A-62D6-602E-20E39774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12" name="Picture 11" descr="resul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997889"/>
            <a:ext cx="3017520" cy="377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9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83080"/>
            <a:ext cx="8229600" cy="4297680"/>
          </a:xfrm>
        </p:spPr>
        <p:txBody>
          <a:bodyPr wrap="square">
            <a:norm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sz="1600" b="1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spcAft>
                <a:spcPts val="6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Integrates ontology with CNN-Bi-LSTM deep learning for interpretable </a:t>
            </a:r>
            <a:r>
              <a:rPr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congestion.</a:t>
            </a:r>
            <a:endParaRPr sz="1600" b="0" dirty="0">
              <a:solidFill>
                <a:srgbClr val="2129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spcAft>
                <a:spcPts val="6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Combines semantic knowledge with temporal modeling; predictions explained via SHAP and Grad-CAM.</a:t>
            </a:r>
          </a:p>
          <a:p>
            <a:pPr marL="285750" lvl="1" indent="-285750" algn="just">
              <a:spcAft>
                <a:spcPts val="6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and adaptable for modern smart-city traffic management.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sz="1600" b="1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 marL="285750" lvl="1" indent="-285750" algn="just">
              <a:spcAft>
                <a:spcPts val="600"/>
              </a:spcAft>
              <a:buFont typeface="Arial"/>
              <a:buChar char="•"/>
            </a:pPr>
            <a:r>
              <a:rPr sz="1600" b="0" dirty="0" err="1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sensor integration for real-time </a:t>
            </a:r>
            <a:r>
              <a:rPr sz="1600" b="0" dirty="0" smtClean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sz="1600" b="0" dirty="0">
              <a:solidFill>
                <a:srgbClr val="2129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spcAft>
                <a:spcPts val="6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Neural Networks to better model spatial road-network relationships.</a:t>
            </a:r>
          </a:p>
          <a:p>
            <a:pPr marL="285750" lvl="1" indent="-285750" algn="just">
              <a:spcAft>
                <a:spcPts val="600"/>
              </a:spcAft>
              <a:buFont typeface="Arial"/>
              <a:buChar char="•"/>
            </a:pPr>
            <a:r>
              <a:rPr sz="1600" b="0" dirty="0">
                <a:solidFill>
                  <a:srgbClr val="21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/ mobile application and full smart-city deployment.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0EFA7-ED90-F1C6-ABEB-9BFE5701AA7B}"/>
              </a:ext>
            </a:extLst>
          </p:cNvPr>
          <p:cNvSpPr txBox="1"/>
          <p:nvPr/>
        </p:nvSpPr>
        <p:spPr>
          <a:xfrm>
            <a:off x="832104" y="1371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IN" b="1" i="0" cap="all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 and Future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4A6B24-BA95-72E1-DBEE-404044EB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697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4744"/>
            <a:ext cx="9144000" cy="573325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8229600" cy="4572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/>
              <a:t>Paper ID: CLICK2167</a:t>
            </a:r>
            <a:endParaRPr lang="en-IN"/>
          </a:p>
          <a:p>
            <a:pPr marL="0" indent="0" algn="ctr">
              <a:buNone/>
            </a:pPr>
            <a:r>
              <a:rPr b="1"/>
              <a:t>CLICK2026</a:t>
            </a:r>
          </a:p>
        </p:txBody>
      </p:sp>
      <p:sp>
        <p:nvSpPr>
          <p:cNvPr id="8" name="object 3"/>
          <p:cNvSpPr txBox="1"/>
          <p:nvPr/>
        </p:nvSpPr>
        <p:spPr>
          <a:xfrm>
            <a:off x="1547664" y="2924944"/>
            <a:ext cx="5688632" cy="13542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2400" spc="-55" dirty="0">
                <a:solidFill>
                  <a:srgbClr val="00468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Thank</a:t>
            </a:r>
            <a:r>
              <a:rPr sz="2400" spc="-45" dirty="0">
                <a:solidFill>
                  <a:srgbClr val="00468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sz="2400" spc="-20" dirty="0">
                <a:solidFill>
                  <a:srgbClr val="00468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You!</a:t>
            </a:r>
            <a:endParaRPr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2400" spc="-30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Questions</a:t>
            </a:r>
            <a:r>
              <a:rPr sz="2400" spc="-25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and</a:t>
            </a:r>
            <a:r>
              <a:rPr sz="2400" spc="-20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sz="2400" spc="-40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discussion</a:t>
            </a:r>
            <a:r>
              <a:rPr sz="2400" spc="-20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sz="2400" spc="-45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are</a:t>
            </a:r>
            <a:r>
              <a:rPr sz="2400" spc="-20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sz="2400" spc="-25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welcome.</a:t>
            </a:r>
            <a:endParaRPr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lang="en-IN" sz="2400" spc="85" dirty="0">
                <a:solidFill>
                  <a:srgbClr val="3B3B3B"/>
                </a:solidFill>
                <a:latin typeface="Tahoma" pitchFamily="34" charset="0"/>
                <a:ea typeface="Tahoma" pitchFamily="34" charset="0"/>
                <a:cs typeface="Tahoma" pitchFamily="34" charset="0"/>
                <a:hlinkClick r:id="rId2"/>
              </a:rPr>
              <a:t>nandhagopal0104@gmail.com</a:t>
            </a:r>
            <a:endParaRPr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65FA78-D5E9-2D49-3295-B6376E5F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026C9-72F4-4387-9658-BB2EAE80D002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6972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Format CLICK 2026" id="{E59C2358-CBC5-4111-8813-C77E295B1DBF}" vid="{44DD0CD0-4FDE-47D5-B5CB-FAF24B128C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</TotalTime>
  <Words>977</Words>
  <Application>Microsoft Office PowerPoint</Application>
  <PresentationFormat>On-screen Show (4:3)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Tahoma</vt:lpstr>
      <vt:lpstr>Retrospect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Divya</dc:creator>
  <cp:lastModifiedBy>FCI</cp:lastModifiedBy>
  <cp:revision>32</cp:revision>
  <dcterms:created xsi:type="dcterms:W3CDTF">2026-06-07T06:01:50Z</dcterms:created>
  <dcterms:modified xsi:type="dcterms:W3CDTF">2026-07-16T11:18:27Z</dcterms:modified>
</cp:coreProperties>
</file>